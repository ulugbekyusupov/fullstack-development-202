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7" r:id="rId4"/>
    <p:sldId id="258" r:id="rId5"/>
    <p:sldId id="259" r:id="rId6"/>
    <p:sldId id="261" r:id="rId7"/>
    <p:sldId id="260" r:id="rId8"/>
    <p:sldId id="278" r:id="rId9"/>
    <p:sldId id="279" r:id="rId10"/>
    <p:sldId id="280" r:id="rId11"/>
    <p:sldId id="262" r:id="rId12"/>
    <p:sldId id="264" r:id="rId13"/>
    <p:sldId id="263" r:id="rId14"/>
    <p:sldId id="265" r:id="rId15"/>
    <p:sldId id="266" r:id="rId16"/>
    <p:sldId id="281" r:id="rId17"/>
    <p:sldId id="282" r:id="rId18"/>
    <p:sldId id="276" r:id="rId19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0"/>
    <p:restoredTop sz="95840"/>
  </p:normalViewPr>
  <p:slideViewPr>
    <p:cSldViewPr snapToGrid="0">
      <p:cViewPr varScale="1">
        <p:scale>
          <a:sx n="113" d="100"/>
          <a:sy n="113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CF093-D817-A047-B2F9-99B34BAC295C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619F0-F5CF-E64A-80E9-E1E20B1484E6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276708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F99EB-01EA-FF4D-B575-B9A4D3F66597}" type="slidenum">
              <a:rPr lang="en-UZ" smtClean="0"/>
              <a:t>18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673245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24/03/25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dom_obj_event.asp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Z" dirty="0"/>
              <a:t>DOM Manipulation </a:t>
            </a:r>
            <a:br>
              <a:rPr lang="en-UZ" dirty="0"/>
            </a:br>
            <a:r>
              <a:rPr lang="en-UZ" dirty="0"/>
              <a:t>in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the DOM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2B01F-8359-A9C2-EB8A-479D204532D1}"/>
              </a:ext>
            </a:extLst>
          </p:cNvPr>
          <p:cNvSpPr txBox="1"/>
          <p:nvPr/>
        </p:nvSpPr>
        <p:spPr>
          <a:xfrm>
            <a:off x="838200" y="1387316"/>
            <a:ext cx="10248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Document Object Model (DOM)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tree-like representation of an HTML document.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element, attribute, and text is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DOM tree.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0A577-6994-FABF-9AB4-490515A3A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690" y="2398031"/>
            <a:ext cx="5703570" cy="39014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9D3C95-5CBC-8234-CA52-063A29E0700A}"/>
              </a:ext>
            </a:extLst>
          </p:cNvPr>
          <p:cNvSpPr txBox="1"/>
          <p:nvPr/>
        </p:nvSpPr>
        <p:spPr>
          <a:xfrm>
            <a:off x="838200" y="3338456"/>
            <a:ext cx="517398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JavaScript can: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read,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modify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delete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elements dynamically.</a:t>
            </a:r>
          </a:p>
        </p:txBody>
      </p:sp>
    </p:spTree>
    <p:extLst>
      <p:ext uri="{BB962C8B-B14F-4D97-AF65-F5344CB8AC3E}">
        <p14:creationId xmlns:p14="http://schemas.microsoft.com/office/powerpoint/2010/main" val="42149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6AE5-A507-1DA7-4CE1-D8BF49C8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window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831D2-99B2-9432-0805-9999531AE510}"/>
              </a:ext>
            </a:extLst>
          </p:cNvPr>
          <p:cNvSpPr txBox="1"/>
          <p:nvPr/>
        </p:nvSpPr>
        <p:spPr>
          <a:xfrm>
            <a:off x="838200" y="1302136"/>
            <a:ext cx="105156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window object is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global object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browser. It represents the entire browser window and provides access to various functionalities including: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4D610-5095-5E79-E551-71F88F9E0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29151"/>
            <a:ext cx="7997190" cy="876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3A264C-824D-EB48-B3D2-8FAA9ACC8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55" y="2364501"/>
            <a:ext cx="5163305" cy="33733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83CC4F-AD8F-5BDC-3988-C1754817F32A}"/>
              </a:ext>
            </a:extLst>
          </p:cNvPr>
          <p:cNvSpPr txBox="1"/>
          <p:nvPr/>
        </p:nvSpPr>
        <p:spPr>
          <a:xfrm>
            <a:off x="433070" y="2808153"/>
            <a:ext cx="600888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(document)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(Browser Object Model) like navigator, location, history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JavaScript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functions and variables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declared in the global scope</a:t>
            </a:r>
          </a:p>
        </p:txBody>
      </p:sp>
    </p:spTree>
    <p:extLst>
      <p:ext uri="{BB962C8B-B14F-4D97-AF65-F5344CB8AC3E}">
        <p14:creationId xmlns:p14="http://schemas.microsoft.com/office/powerpoint/2010/main" val="25997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01FF-093A-2A3E-043D-C4FC1A90E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86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Accessing the DOM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2CE16-D111-215C-6CA3-6AF1B42DC597}"/>
              </a:ext>
            </a:extLst>
          </p:cNvPr>
          <p:cNvSpPr txBox="1"/>
          <p:nvPr/>
        </p:nvSpPr>
        <p:spPr>
          <a:xfrm>
            <a:off x="838200" y="1360438"/>
            <a:ext cx="1004316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document object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represents the whole HTML document.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Common ways to select elements: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getElementById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– Selects an element by ID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getElementsByClassName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– Selects elements by class (returns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HTMLCollection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getElementsByTagName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– Selects elements by tag name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querySelector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– Selects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matching element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querySelectorAll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– Selects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matching elements</a:t>
            </a:r>
          </a:p>
        </p:txBody>
      </p:sp>
      <p:pic>
        <p:nvPicPr>
          <p:cNvPr id="7" name="Picture 6" descr="A close up of a computer code&#10;&#10;Description automatically generated">
            <a:extLst>
              <a:ext uri="{FF2B5EF4-FFF2-40B4-BE49-F238E27FC236}">
                <a16:creationId xmlns:a16="http://schemas.microsoft.com/office/drawing/2014/main" id="{8987A129-E384-F448-1E1A-F08AE2DD4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35538"/>
            <a:ext cx="7334250" cy="102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1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D411-1E1E-01B8-5210-D2F1B988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74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Modifying the DOM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57AD4-E098-26D8-F675-DA4197121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9148"/>
            <a:ext cx="10419382" cy="880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E31E6E-A2C8-EE54-75D0-805AD5069541}"/>
              </a:ext>
            </a:extLst>
          </p:cNvPr>
          <p:cNvSpPr txBox="1"/>
          <p:nvPr/>
        </p:nvSpPr>
        <p:spPr>
          <a:xfrm>
            <a:off x="838200" y="1501616"/>
            <a:ext cx="916305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innerHTML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textContent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modify an element’s content.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innerHTML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processes HTML inside the element.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textContent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sets plain text.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9C68F-6495-9FB9-59C0-C81F537DF9F3}"/>
              </a:ext>
            </a:extLst>
          </p:cNvPr>
          <p:cNvSpPr txBox="1"/>
          <p:nvPr/>
        </p:nvSpPr>
        <p:spPr>
          <a:xfrm>
            <a:off x="838200" y="3751791"/>
            <a:ext cx="6097904" cy="2118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Managing CSS Classes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classList.add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("class") – Adds a class.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classList.remove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("class") – Removes a class.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classList.toggle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("class") – Toggles a class on/off.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group of black text&#10;&#10;Description automatically generated">
            <a:extLst>
              <a:ext uri="{FF2B5EF4-FFF2-40B4-BE49-F238E27FC236}">
                <a16:creationId xmlns:a16="http://schemas.microsoft.com/office/drawing/2014/main" id="{99DF76BF-B9E1-6ECB-6E46-6DA2F4BCD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509068"/>
            <a:ext cx="7837170" cy="100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8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4141-0E9C-B592-8939-01C4D0C2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Creating &amp; Deleting Elements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 up of a text&#10;&#10;Description automatically generated">
            <a:extLst>
              <a:ext uri="{FF2B5EF4-FFF2-40B4-BE49-F238E27FC236}">
                <a16:creationId xmlns:a16="http://schemas.microsoft.com/office/drawing/2014/main" id="{68BB9E71-F050-7BB1-41DD-5F57577AD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2308773"/>
            <a:ext cx="6316980" cy="958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BE83B4-3A84-D091-5B92-209FE3052131}"/>
              </a:ext>
            </a:extLst>
          </p:cNvPr>
          <p:cNvSpPr txBox="1"/>
          <p:nvPr/>
        </p:nvSpPr>
        <p:spPr>
          <a:xfrm>
            <a:off x="838200" y="1430766"/>
            <a:ext cx="8248650" cy="87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Creating New Elements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document.createElement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create new elements dynamically.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5C067-79A8-7201-07D6-45754ABE2966}"/>
              </a:ext>
            </a:extLst>
          </p:cNvPr>
          <p:cNvSpPr txBox="1"/>
          <p:nvPr/>
        </p:nvSpPr>
        <p:spPr>
          <a:xfrm>
            <a:off x="838200" y="3586626"/>
            <a:ext cx="67056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Removing Elements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removeChild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remove()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delete elements.</a:t>
            </a:r>
          </a:p>
        </p:txBody>
      </p:sp>
      <p:pic>
        <p:nvPicPr>
          <p:cNvPr id="15" name="Picture 1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C194015-2FB7-2B1E-35AE-13B118C43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" y="4458596"/>
            <a:ext cx="6232964" cy="8719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D43845-C9FF-688A-5FC8-8B0A515F1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374843"/>
            <a:ext cx="5257800" cy="55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7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E125-C03D-4B46-83D8-2AC6213B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8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Handling in the DOM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C8255-50ED-7AE3-EE19-0AA757D43A3A}"/>
              </a:ext>
            </a:extLst>
          </p:cNvPr>
          <p:cNvSpPr txBox="1"/>
          <p:nvPr/>
        </p:nvSpPr>
        <p:spPr>
          <a:xfrm>
            <a:off x="838200" y="143222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Events occur when users interact with a webpage.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EB625-1782-718C-6DB4-B83767E2B9CA}"/>
              </a:ext>
            </a:extLst>
          </p:cNvPr>
          <p:cNvSpPr txBox="1"/>
          <p:nvPr/>
        </p:nvSpPr>
        <p:spPr>
          <a:xfrm>
            <a:off x="849630" y="1881962"/>
            <a:ext cx="6097904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Common event types: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Button clicks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mouseover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Hovering over an element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keydown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keyup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Keyboard events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submit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Form submission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9AD29-67D3-6A58-78F5-49C76D05FAAA}"/>
              </a:ext>
            </a:extLst>
          </p:cNvPr>
          <p:cNvSpPr txBox="1"/>
          <p:nvPr/>
        </p:nvSpPr>
        <p:spPr>
          <a:xfrm>
            <a:off x="838200" y="4422677"/>
            <a:ext cx="7825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addEventListener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 allows us to attach event handlers.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73459F-2F2D-E329-3A26-03BFB1DA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00" y="5307197"/>
            <a:ext cx="8077861" cy="8852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0A4DAC-3353-FDA0-BD50-E060D28F5D58}"/>
              </a:ext>
            </a:extLst>
          </p:cNvPr>
          <p:cNvSpPr txBox="1"/>
          <p:nvPr/>
        </p:nvSpPr>
        <p:spPr>
          <a:xfrm>
            <a:off x="8346175" y="2328098"/>
            <a:ext cx="30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HTML DOM Events</a:t>
            </a:r>
            <a:endParaRPr lang="en-U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5D80BF-D8F1-14FF-1A51-196577DF3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570" y="4901730"/>
            <a:ext cx="6413500" cy="431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8F725A4-9FE4-914B-1509-FB0D92F7B678}"/>
              </a:ext>
            </a:extLst>
          </p:cNvPr>
          <p:cNvSpPr txBox="1"/>
          <p:nvPr/>
        </p:nvSpPr>
        <p:spPr>
          <a:xfrm>
            <a:off x="861060" y="4921534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</a:p>
        </p:txBody>
      </p:sp>
    </p:spTree>
    <p:extLst>
      <p:ext uri="{BB962C8B-B14F-4D97-AF65-F5344CB8AC3E}">
        <p14:creationId xmlns:p14="http://schemas.microsoft.com/office/powerpoint/2010/main" val="213970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6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1B56-E46F-9830-506D-A0207A6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860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 - 1</a:t>
            </a:r>
          </a:p>
        </p:txBody>
      </p:sp>
      <p:pic>
        <p:nvPicPr>
          <p:cNvPr id="6" name="Picture 5" descr="A screenshot of a task list&#10;&#10;Description automatically generated">
            <a:extLst>
              <a:ext uri="{FF2B5EF4-FFF2-40B4-BE49-F238E27FC236}">
                <a16:creationId xmlns:a16="http://schemas.microsoft.com/office/drawing/2014/main" id="{B9E63B5C-5EEA-338B-7523-37D46B185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1" y="1377371"/>
            <a:ext cx="5766018" cy="4773364"/>
          </a:xfrm>
          <a:prstGeom prst="rect">
            <a:avLst/>
          </a:prstGeom>
        </p:spPr>
      </p:pic>
      <p:pic>
        <p:nvPicPr>
          <p:cNvPr id="8" name="Picture 7" descr="A screenshot of a task box&#10;&#10;Description automatically generated">
            <a:extLst>
              <a:ext uri="{FF2B5EF4-FFF2-40B4-BE49-F238E27FC236}">
                <a16:creationId xmlns:a16="http://schemas.microsoft.com/office/drawing/2014/main" id="{2FE96F91-4B50-A71E-99C3-2D8071C11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300" y="1607756"/>
            <a:ext cx="5218969" cy="431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6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FE39-1F91-1089-48C8-F921BF9C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 - 2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7C681-D1A0-67DE-E9AA-CF3DC4EB0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1227"/>
            <a:ext cx="5028159" cy="195777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8E81D6C-DA9E-C05E-0D2C-B1D4AB4F0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587497"/>
            <a:ext cx="4547016" cy="1781407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D616AF7-69FF-6034-970D-1612C21EC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91579"/>
            <a:ext cx="4894435" cy="1957774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6FA15F75-8EEC-47FA-D1B0-2CDAAA5A6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91579"/>
            <a:ext cx="4894435" cy="203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5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FE39-1F91-1089-48C8-F921BF9C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 – 3,4</a:t>
            </a:r>
          </a:p>
        </p:txBody>
      </p:sp>
      <p:pic>
        <p:nvPicPr>
          <p:cNvPr id="5" name="Picture 4" descr="A screenshot of a calculator&#10;&#10;Description automatically generated">
            <a:extLst>
              <a:ext uri="{FF2B5EF4-FFF2-40B4-BE49-F238E27FC236}">
                <a16:creationId xmlns:a16="http://schemas.microsoft.com/office/drawing/2014/main" id="{8E10715B-30DD-C163-88A0-FAB45CEEF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580" y="1690688"/>
            <a:ext cx="3403792" cy="4729162"/>
          </a:xfrm>
          <a:prstGeom prst="rect">
            <a:avLst/>
          </a:prstGeom>
        </p:spPr>
      </p:pic>
      <p:pic>
        <p:nvPicPr>
          <p:cNvPr id="9" name="Picture 8" descr="A green and grey traffic light&#10;&#10;Description automatically generated">
            <a:extLst>
              <a:ext uri="{FF2B5EF4-FFF2-40B4-BE49-F238E27FC236}">
                <a16:creationId xmlns:a16="http://schemas.microsoft.com/office/drawing/2014/main" id="{671B4699-5AA4-166F-6091-87A392317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30" y="1690688"/>
            <a:ext cx="2617671" cy="472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6228-0952-CC82-DCBB-2A3B69E9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86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Propagation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60482-C26E-EA4B-64E9-1F945C80A7F1}"/>
              </a:ext>
            </a:extLst>
          </p:cNvPr>
          <p:cNvSpPr txBox="1"/>
          <p:nvPr/>
        </p:nvSpPr>
        <p:spPr>
          <a:xfrm>
            <a:off x="838200" y="1264484"/>
            <a:ext cx="112776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is Event Propagation?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an event occurs, it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travels through the DOM tree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two phases: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Capturing Phase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The event moves from the root (document) to the target element.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Bubbling Phase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The event bubbles up from the target element to the root.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F4AC0-D8DD-B44F-D3FB-651FB990A5B4}"/>
              </a:ext>
            </a:extLst>
          </p:cNvPr>
          <p:cNvSpPr txBox="1"/>
          <p:nvPr/>
        </p:nvSpPr>
        <p:spPr>
          <a:xfrm>
            <a:off x="7330440" y="3619044"/>
            <a:ext cx="4705350" cy="2118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is this important?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in handling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nested event listeners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efficiently.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event delegation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dynamic elements.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9FCE7C-5965-4A26-E074-E5ADF118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69008"/>
            <a:ext cx="6358890" cy="362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68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9045-95A8-793B-CADC-261B3579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01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Bubbling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24AA0-BA30-04AD-74AD-EB7BE1719D8C}"/>
              </a:ext>
            </a:extLst>
          </p:cNvPr>
          <p:cNvSpPr txBox="1"/>
          <p:nvPr/>
        </p:nvSpPr>
        <p:spPr>
          <a:xfrm>
            <a:off x="838200" y="1691753"/>
            <a:ext cx="105156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Bubbling: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event starts at the target element and moves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DOM tree.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Clicking on a &lt;button&gt; inside a &lt;div&gt; also triggers the &lt;div&gt;’s event.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60F9D92-3DE8-42A7-4176-B9E0AE31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4396"/>
            <a:ext cx="9302110" cy="19224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81003-3D91-F099-2E6D-BB7C7C9298F0}"/>
              </a:ext>
            </a:extLst>
          </p:cNvPr>
          <p:cNvSpPr txBox="1"/>
          <p:nvPr/>
        </p:nvSpPr>
        <p:spPr>
          <a:xfrm>
            <a:off x="838200" y="5547441"/>
            <a:ext cx="1018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Clicking the child button triggers both alerts because the event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bubbles 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340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9045-95A8-793B-CADC-261B3579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01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Capturing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24AA0-BA30-04AD-74AD-EB7BE1719D8C}"/>
              </a:ext>
            </a:extLst>
          </p:cNvPr>
          <p:cNvSpPr txBox="1"/>
          <p:nvPr/>
        </p:nvSpPr>
        <p:spPr>
          <a:xfrm>
            <a:off x="838200" y="1611743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Capturing (Trickling Down):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event moves from the document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the target element before executing the event listener.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Pass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the third argument in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addEventListener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6D77C95-F292-A07D-0C3A-ECB8A8AB1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11308"/>
            <a:ext cx="9188081" cy="19453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E08B84-73BD-FA59-C977-5AA27EEFA90F}"/>
              </a:ext>
            </a:extLst>
          </p:cNvPr>
          <p:cNvSpPr txBox="1"/>
          <p:nvPr/>
        </p:nvSpPr>
        <p:spPr>
          <a:xfrm>
            <a:off x="838200" y="5654725"/>
            <a:ext cx="1086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Parent DIV alert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will show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Child Button alert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because capturing happens first.</a:t>
            </a:r>
          </a:p>
        </p:txBody>
      </p:sp>
    </p:spTree>
    <p:extLst>
      <p:ext uri="{BB962C8B-B14F-4D97-AF65-F5344CB8AC3E}">
        <p14:creationId xmlns:p14="http://schemas.microsoft.com/office/powerpoint/2010/main" val="73722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AB20-9162-F530-0180-052D7819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Delegation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35F53-FD9B-54A5-295C-3738FB831197}"/>
              </a:ext>
            </a:extLst>
          </p:cNvPr>
          <p:cNvSpPr txBox="1"/>
          <p:nvPr/>
        </p:nvSpPr>
        <p:spPr>
          <a:xfrm>
            <a:off x="838200" y="2003047"/>
            <a:ext cx="9071610" cy="87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Instead of adding event listeners to multiple elements, attach one to the parent.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Useful for dynamically added elements.</a:t>
            </a:r>
          </a:p>
        </p:txBody>
      </p:sp>
      <p:pic>
        <p:nvPicPr>
          <p:cNvPr id="7" name="Picture 6" descr="A close-up of a computer code&#10;&#10;Description automatically generated">
            <a:extLst>
              <a:ext uri="{FF2B5EF4-FFF2-40B4-BE49-F238E27FC236}">
                <a16:creationId xmlns:a16="http://schemas.microsoft.com/office/drawing/2014/main" id="{D09DF0F9-FB79-6C7E-C8D7-3B6A454BE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41038"/>
            <a:ext cx="9476190" cy="14439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C545C3-6335-677B-4219-3E952A5C4A08}"/>
              </a:ext>
            </a:extLst>
          </p:cNvPr>
          <p:cNvSpPr txBox="1"/>
          <p:nvPr/>
        </p:nvSpPr>
        <p:spPr>
          <a:xfrm>
            <a:off x="842010" y="5175090"/>
            <a:ext cx="9476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Clicking any &lt;li&gt; triggers the alert without adding event listeners to each &lt;li&gt; manually.</a:t>
            </a:r>
          </a:p>
        </p:txBody>
      </p:sp>
    </p:spTree>
    <p:extLst>
      <p:ext uri="{BB962C8B-B14F-4D97-AF65-F5344CB8AC3E}">
        <p14:creationId xmlns:p14="http://schemas.microsoft.com/office/powerpoint/2010/main" val="172512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B1B4-815D-71B6-6865-CE950668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Stopping Event Propagation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06B0E-C5A8-04C6-E4D9-EA09CC4186A7}"/>
              </a:ext>
            </a:extLst>
          </p:cNvPr>
          <p:cNvSpPr txBox="1"/>
          <p:nvPr/>
        </p:nvSpPr>
        <p:spPr>
          <a:xfrm>
            <a:off x="838199" y="1690688"/>
            <a:ext cx="968883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event.stopPropagation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prevent bubbling or capturing.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Prevent parent div from receiving the event when clicking the button.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48967E-1E28-9729-3101-396148082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82257"/>
            <a:ext cx="9441863" cy="11354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DB6F1D-7564-45CF-BC21-92A3267EF9F1}"/>
              </a:ext>
            </a:extLst>
          </p:cNvPr>
          <p:cNvSpPr txBox="1"/>
          <p:nvPr/>
        </p:nvSpPr>
        <p:spPr>
          <a:xfrm>
            <a:off x="838199" y="4909389"/>
            <a:ext cx="10751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Now, only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Child Button alert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appears, and the parent div event is not triggered.</a:t>
            </a:r>
          </a:p>
        </p:txBody>
      </p:sp>
    </p:spTree>
    <p:extLst>
      <p:ext uri="{BB962C8B-B14F-4D97-AF65-F5344CB8AC3E}">
        <p14:creationId xmlns:p14="http://schemas.microsoft.com/office/powerpoint/2010/main" val="328584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2254-62CA-467F-DDBC-A5C6CFFA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Homework 1</a:t>
            </a:r>
          </a:p>
        </p:txBody>
      </p:sp>
      <p:pic>
        <p:nvPicPr>
          <p:cNvPr id="5" name="Picture 4" descr="A screenshot of a login form&#10;&#10;Description automatically generated">
            <a:extLst>
              <a:ext uri="{FF2B5EF4-FFF2-40B4-BE49-F238E27FC236}">
                <a16:creationId xmlns:a16="http://schemas.microsoft.com/office/drawing/2014/main" id="{DCCAAE68-34E0-68E8-1B0B-4AB8F16E8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492250"/>
            <a:ext cx="5549900" cy="4648200"/>
          </a:xfrm>
          <a:prstGeom prst="rect">
            <a:avLst/>
          </a:prstGeom>
        </p:spPr>
      </p:pic>
      <p:pic>
        <p:nvPicPr>
          <p:cNvPr id="7" name="Picture 6" descr="A screenshot of a login form&#10;&#10;Description automatically generated">
            <a:extLst>
              <a:ext uri="{FF2B5EF4-FFF2-40B4-BE49-F238E27FC236}">
                <a16:creationId xmlns:a16="http://schemas.microsoft.com/office/drawing/2014/main" id="{30594E0E-07C0-0AB1-35EC-698007F6C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79600"/>
            <a:ext cx="56388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60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2254-62CA-467F-DDBC-A5C6CFFA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157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Homework 2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495C23F-B151-4740-FEE5-42FA31476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35" y="1476738"/>
            <a:ext cx="5199089" cy="3273500"/>
          </a:xfrm>
          <a:prstGeom prst="rect">
            <a:avLst/>
          </a:prstGeom>
        </p:spPr>
      </p:pic>
      <p:pic>
        <p:nvPicPr>
          <p:cNvPr id="10" name="Picture 9" descr="A screenshot of a sports tournament&#10;&#10;Description automatically generated">
            <a:extLst>
              <a:ext uri="{FF2B5EF4-FFF2-40B4-BE49-F238E27FC236}">
                <a16:creationId xmlns:a16="http://schemas.microsoft.com/office/drawing/2014/main" id="{57BC9AD0-B391-A3F7-2EBF-50A18B78C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524" y="2795032"/>
            <a:ext cx="5909872" cy="369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60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B9E7-11C8-0CA5-9560-452D5D20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182813"/>
            <a:ext cx="10180320" cy="2194878"/>
          </a:xfrm>
        </p:spPr>
        <p:txBody>
          <a:bodyPr/>
          <a:lstStyle/>
          <a:p>
            <a:pPr algn="ctr"/>
            <a:r>
              <a:rPr lang="en-UZ" sz="16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97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3623</TotalTime>
  <Words>602</Words>
  <Application>Microsoft Macintosh PowerPoint</Application>
  <PresentationFormat>Widescreen</PresentationFormat>
  <Paragraphs>81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DOM Manipulation  in JavaScript</vt:lpstr>
      <vt:lpstr>Introduction to the DOM </vt:lpstr>
      <vt:lpstr>window objects</vt:lpstr>
      <vt:lpstr>Accessing the DOM</vt:lpstr>
      <vt:lpstr>Modifying the DOM</vt:lpstr>
      <vt:lpstr>Creating &amp; Deleting Elements</vt:lpstr>
      <vt:lpstr>Event Handling in the DOM</vt:lpstr>
      <vt:lpstr>Practice - 1</vt:lpstr>
      <vt:lpstr>Practice - 2</vt:lpstr>
      <vt:lpstr>Practice – 3,4</vt:lpstr>
      <vt:lpstr>Event Propagation</vt:lpstr>
      <vt:lpstr>Event Bubbling</vt:lpstr>
      <vt:lpstr>Event Capturing</vt:lpstr>
      <vt:lpstr>Event Delegation</vt:lpstr>
      <vt:lpstr>Stopping Event Propagation</vt:lpstr>
      <vt:lpstr>Homework 1</vt:lpstr>
      <vt:lpstr>Homework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Web Development</dc:title>
  <dc:creator>YUSUPOV MIRZOULUGBEK</dc:creator>
  <cp:lastModifiedBy>YUSUPOV MIRZOULUGBEK</cp:lastModifiedBy>
  <cp:revision>13</cp:revision>
  <dcterms:created xsi:type="dcterms:W3CDTF">2025-02-25T16:49:07Z</dcterms:created>
  <dcterms:modified xsi:type="dcterms:W3CDTF">2025-03-24T07:45:07Z</dcterms:modified>
</cp:coreProperties>
</file>